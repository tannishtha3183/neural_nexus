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457200"/>
          <a:lstStyle/>
          <a:p>
            <a:pPr algn="ctr">
              <a:defRPr sz="1100" b="1">
                <a:solidFill>
                  <a:srgbClr val="C2652A"/>
                </a:solidFill>
                <a:latin typeface="Arial"/>
              </a:defRPr>
            </a:pPr>
            <a:r>
              <a:t>HEALTHCARE AI &amp; BIOMEDICAL NATURAL LANGUAGE PROCESSING</a:t>
            </a:r>
          </a:p>
          <a:p>
            <a:pPr>
              <a:defRPr sz="2600" b="1">
                <a:solidFill>
                  <a:srgbClr val="261C14"/>
                </a:solidFill>
                <a:latin typeface="Georgia"/>
              </a:defRPr>
            </a:pPr>
            <a:r>
              <a:t>Project Name: BioSpan AI</a:t>
            </a:r>
          </a:p>
          <a:p>
            <a:pPr>
              <a:defRPr sz="1300" b="1">
                <a:solidFill>
                  <a:srgbClr val="C2652A"/>
                </a:solidFill>
                <a:latin typeface="Arial"/>
              </a:defRPr>
            </a:pPr>
            <a:r>
              <a:t>Biomedical Named Entity Recognition &amp; Multilingual Healthcare Intelligence System</a:t>
            </a:r>
          </a:p>
          <a:p>
            <a:pPr>
              <a:defRPr sz="1100">
                <a:solidFill>
                  <a:srgbClr val="6E6359"/>
                </a:solidFill>
                <a:latin typeface="Arial"/>
              </a:defRPr>
            </a:pPr>
            <a:r>
              <a:t>Solving Subword Tokenization Mismatch, Enforcing Constrained Sequence Labeling &amp; Bridging Clinical Jargon Across 13 Indian Languages</a:t>
            </a:r>
          </a:p>
          <a:p>
            <a:pPr>
              <a:defRPr sz="800"/>
            </a:pPr>
          </a:p>
          <a:p>
            <a:pPr>
              <a:defRPr sz="1500" b="1">
                <a:solidFill>
                  <a:srgbClr val="2E7D73"/>
                </a:solidFill>
                <a:latin typeface="Arial"/>
              </a:defRPr>
            </a:pPr>
            <a:r>
              <a:t>Team Name: Neural Nexus</a:t>
            </a:r>
          </a:p>
          <a:p>
            <a:pPr>
              <a:defRPr sz="1300" b="1">
                <a:solidFill>
                  <a:srgbClr val="261C14"/>
                </a:solidFill>
                <a:latin typeface="Arial"/>
              </a:defRPr>
            </a:pPr>
            <a:r>
              <a:t>Team Members:</a:t>
            </a:r>
          </a:p>
          <a:p>
            <a:pPr>
              <a:defRPr sz="1200" b="1">
                <a:solidFill>
                  <a:srgbClr val="261C14"/>
                </a:solidFill>
                <a:latin typeface="Arial"/>
              </a:defRPr>
            </a:pPr>
            <a:r>
              <a:t>  •  M. Varshitha : 2420080003</a:t>
            </a:r>
          </a:p>
          <a:p>
            <a:pPr>
              <a:defRPr sz="1200" b="1">
                <a:solidFill>
                  <a:srgbClr val="261C14"/>
                </a:solidFill>
                <a:latin typeface="Arial"/>
              </a:defRPr>
            </a:pPr>
            <a:r>
              <a:t>  •  B. Jishitha : 2420080048</a:t>
            </a:r>
          </a:p>
          <a:p>
            <a:pPr>
              <a:defRPr sz="1200" b="1">
                <a:solidFill>
                  <a:srgbClr val="261C14"/>
                </a:solidFill>
                <a:latin typeface="Arial"/>
              </a:defRPr>
            </a:pPr>
            <a:r>
              <a:t>  •  T. Nesta : 2420080070</a:t>
            </a:r>
          </a:p>
          <a:p>
            <a:pPr>
              <a:defRPr sz="1200" b="1">
                <a:solidFill>
                  <a:srgbClr val="261C14"/>
                </a:solidFill>
                <a:latin typeface="Arial"/>
              </a:defRPr>
            </a:pPr>
            <a:r>
              <a:t>  •  Tannishtha Verma : 2420080098</a:t>
            </a:r>
          </a:p>
          <a:p>
            <a:pPr>
              <a:defRPr sz="600"/>
            </a:pPr>
          </a:p>
          <a:p>
            <a:pPr>
              <a:defRPr sz="1000">
                <a:solidFill>
                  <a:srgbClr val="C2652A"/>
                </a:solidFill>
                <a:latin typeface="Arial"/>
              </a:defRPr>
            </a:pPr>
            <a:r>
              <a:t>Core Pillars: Domain-Specific BioBERT  •  First-Subword (-100) Alignment  •  Deterministic BIO-Sanitizer  •  ICD-10 Linking  •  Multilingual Web Speech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2652A"/>
                </a:solidFill>
                <a:latin typeface="Arial"/>
              </a:defRPr>
            </a:pPr>
            <a:r>
              <a:t>SLIDE 2 OF 8 • CLINICAL &amp; COMPUTATIONAL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61C14"/>
                </a:solidFill>
                <a:latin typeface="Georgia"/>
              </a:defRPr>
            </a:pPr>
            <a:r>
              <a:t>The Problem Statement: Why Biomedical NER Fails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E6359"/>
                </a:solidFill>
                <a:latin typeface="Arial"/>
              </a:defRPr>
            </a:pPr>
            <a:r>
              <a:t>Clinical entities are non-trivial multi-word phenotypes where standard general NLP models suffer critical failure modes.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B33A3A"/>
                </a:solidFill>
              </a:defRPr>
            </a:pPr>
            <a:r>
              <a:t>🚨 Multi-Word Entity Boundary Loss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Composite Phenotypes: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Disease names are compound clinical terms (e.g. 'non-small cell lung carcinoma', 'autoimmune hemolytic anemia').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Dangerous Truncation: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General-purpose NLP often flags only 'carcinoma', discarding the anatomical modifier that dictates patient staging and triage.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Clinical Impact: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Treating entity extraction as isolated word-guessing causes clinical misclassifications.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00200"/>
            <a:ext cx="25146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C2652A"/>
                </a:solidFill>
              </a:defRPr>
            </a:pPr>
            <a:r>
              <a:t>⚡ WordPiece Tokenization Shredding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Subword Fragmentation: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Transformers split medical terms into arbitrary subword shards (e.g. 'ataxia' -&gt; 'at', '##ax', '##ia').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Gradient Skew: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A 5-subword condition receives 5x disproportionate gradient weight compared to single-subword words.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Boundary Distortion: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Continuation subwords distort the learned representation of clinical boundaries.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00200"/>
            <a:ext cx="25146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2E7D73"/>
                </a:solidFill>
              </a:defRPr>
            </a:pPr>
            <a:r>
              <a:t>⚙️ Illegal BIO Sequence Transitions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Unconstrained Argmax: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Probabilistic outputs frequently output invalid sequences like 'O' followed directly by 'I-Disease'.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Orphaned Tags: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Orphaned 'I-Disease' tokens cause downstream EHR parsers to drop entire disease mentions.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Lack of State Logic: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Standard BERT token classifiers have zero transition grammar enforcement.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00200"/>
            <a:ext cx="25146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2C5E8A"/>
                </a:solidFill>
              </a:defRPr>
            </a:pPr>
            <a:r>
              <a:t>🏥 Physician Burnout &amp; Patient Jargon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Documentation Overload: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Clinicians spend 40% of consultation time decoding and transcribing complex diagnostic notes.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Patient Anxiety: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Confusing medical shorthand causes severe distress for patients and families.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Language Barriers: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Over 80% of patients in India cannot access clinical reports in their native regional language.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2652A"/>
                </a:solidFill>
                <a:latin typeface="Arial"/>
              </a:defRPr>
            </a:pPr>
            <a:r>
              <a:t>SLIDE 3 OF 8 • THE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61C14"/>
                </a:solidFill>
                <a:latin typeface="Georgia"/>
              </a:defRPr>
            </a:pPr>
            <a:r>
              <a:t>The BioSpan AI Solution: Constrained Sequence Labeling &amp; Clinical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E6359"/>
                </a:solidFill>
                <a:latin typeface="Arial"/>
              </a:defRPr>
            </a:pPr>
            <a:r>
              <a:t>A holistic biomedical AI platform transforming unstructured clinical text into standardized, multilingual patient care.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C2652A"/>
                </a:solidFill>
              </a:defRPr>
            </a:pPr>
            <a:r>
              <a:t>🧠 Domain-Specific BioBERT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Biomedical Transformer: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Pre-trained on millions of PubMed abstracts and PMC full-text articles for medical semantic depth.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Preserved Vocabulary: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Retains exact clinical context for complex multi-word diseases without out-of-vocabulary fallback.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Contextual Sequence Labeling: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Calculates rich contextual embeddings across the entire sentence rather than word-in-isolation.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00200"/>
            <a:ext cx="25146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2E7D73"/>
                </a:solidFill>
              </a:defRPr>
            </a:pPr>
            <a:r>
              <a:t>🎯 Exact Clinical Span Extraction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Composite Boundary Detection: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Identifies the exact start and end boundaries of multi-word disease entities.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Active vs. Ruled-Out: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Context-aware negation detection separates active illnesses from ruled-out or historical mentions.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Multi-Condition Recognition: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Simultaneously classifies primary, secondary, and negative findings in consultation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00200"/>
            <a:ext cx="25146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2C5E8A"/>
                </a:solidFill>
              </a:defRPr>
            </a:pPr>
            <a:r>
              <a:t>📚 Standardized ICD-10 Linking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Official Ontologies: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Automatically maps every detected span to official ICD-10 diagnostic codes (C34.90, I27.20, E11.40, G11.3).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Searchable Knowledge Base: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Built-in 7-specialty clinical dictionary with 70+ validated conditions.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Plain-English Definitions: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Provides everyday explanations alongside technical codes for patients and doctors.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00200"/>
            <a:ext cx="25146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B33A3A"/>
                </a:solidFill>
              </a:defRPr>
            </a:pPr>
            <a:r>
              <a:t>🇮🇳 Multilingual Delivery &amp; Speech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13 Indian Languages: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Full UI, clinical summary, and dictionary localization across Hindi, Bengali, Telugu, Tamil, etc.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Spoken Audio Guidance: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Integrated Web Speech reader (SpeechSynthesis) reads out findings for elderly or rural patients.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Dynamic Care Navigator: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Computes immediate clinical actions, recommended investigations, care tips, and red flags.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2652A"/>
                </a:solidFill>
                <a:latin typeface="Arial"/>
              </a:defRPr>
            </a:pPr>
            <a:r>
              <a:t>SLIDE 4 OF 8 • INNOVATION &amp; MATHEMATICAL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61C14"/>
                </a:solidFill>
                <a:latin typeface="Georgia"/>
              </a:defRPr>
            </a:pPr>
            <a:r>
              <a:t>Novelty &amp; Uniqueness: Mathematical Alignment &amp; Finite-State Sanitizer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E6359"/>
                </a:solidFill>
                <a:latin typeface="Arial"/>
              </a:defRPr>
            </a:pPr>
            <a:r>
              <a:t>How BioSpan solves the fundamental algorithmic and grammatical flaws of standard transformer token classifiers.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4290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01168"/>
          <a:lstStyle/>
          <a:p>
            <a:pPr algn="ctr">
              <a:defRPr sz="1400" b="1">
                <a:solidFill>
                  <a:srgbClr val="C2652A"/>
                </a:solidFill>
              </a:defRPr>
            </a:pPr>
            <a:r>
              <a:t>1. First-Subword Loss Masking (-100)</a:t>
            </a:r>
          </a:p>
          <a:p>
            <a:pPr>
              <a:spcAft>
                <a:spcPts val="800"/>
              </a:spcAft>
              <a:defRPr sz="1000">
                <a:solidFill>
                  <a:srgbClr val="261C14"/>
                </a:solidFill>
              </a:defRPr>
            </a:pPr>
            <a:r>
              <a:t>• Algorithmic Flaw in Existing Models: Naive token classification updates loss across all subword shards. A 5-subword term ('hy-per-cho-les-terol-emia') receives 5x disproportionate gradient weight compared to a 1-subword word, destabilizing the encoder.</a:t>
            </a:r>
          </a:p>
          <a:p>
            <a:pPr>
              <a:spcAft>
                <a:spcPts val="800"/>
              </a:spcAft>
              <a:defRPr sz="1000">
                <a:solidFill>
                  <a:srgbClr val="261C14"/>
                </a:solidFill>
              </a:defRPr>
            </a:pPr>
            <a:r>
              <a:t>• BioSpan's Mathematical Solution: Aligns target labels strictly to the lead subword and assigns ignore_index = -100 to all continuation subwords. Enforces an exact, mathematically balanced 1.0x gradient pull per clinical word.</a:t>
            </a:r>
          </a:p>
          <a:p>
            <a:pPr>
              <a:spcAft>
                <a:spcPts val="800"/>
              </a:spcAft>
              <a:defRPr sz="1000">
                <a:solidFill>
                  <a:srgbClr val="261C14"/>
                </a:solidFill>
              </a:defRPr>
            </a:pPr>
            <a:r>
              <a:t>• Outcome: Eliminates gradient skew and protects transformer attention layers from long-word bias.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600200"/>
            <a:ext cx="34290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01168"/>
          <a:lstStyle/>
          <a:p>
            <a:pPr algn="ctr">
              <a:defRPr sz="1400" b="1">
                <a:solidFill>
                  <a:srgbClr val="2E7D73"/>
                </a:solidFill>
              </a:defRPr>
            </a:pPr>
            <a:r>
              <a:t>2. Deterministic BIO-Sanitizer State Machine</a:t>
            </a:r>
          </a:p>
          <a:p>
            <a:pPr>
              <a:spcAft>
                <a:spcPts val="800"/>
              </a:spcAft>
              <a:defRPr sz="1000">
                <a:solidFill>
                  <a:srgbClr val="261C14"/>
                </a:solidFill>
              </a:defRPr>
            </a:pPr>
            <a:r>
              <a:t>• Algorithmic Flaw in Existing Models: Probabilistic argmax output frequently produces illegal state transitions (e.g. 'O' followed directly by 'I-Disease'). Downstream parsers crash or drop entities.</a:t>
            </a:r>
          </a:p>
          <a:p>
            <a:pPr>
              <a:spcAft>
                <a:spcPts val="800"/>
              </a:spcAft>
              <a:defRPr sz="1000">
                <a:solidFill>
                  <a:srgbClr val="261C14"/>
                </a:solidFill>
              </a:defRPr>
            </a:pPr>
            <a:r>
              <a:t>• BioSpan's Finite State Machine: An interception layer that deterministically inspects token transitions in O(N) linear time and rewires orphaned I-Disease tags back to valid B-Disease roots.</a:t>
            </a:r>
          </a:p>
          <a:p>
            <a:pPr>
              <a:spcAft>
                <a:spcPts val="800"/>
              </a:spcAft>
              <a:defRPr sz="1000">
                <a:solidFill>
                  <a:srgbClr val="261C14"/>
                </a:solidFill>
              </a:defRPr>
            </a:pPr>
            <a:r>
              <a:t>• Outcome: 100% syntactically valid BIO sequence representations; zero dropped entity mentions in hospital pipelines.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600200"/>
            <a:ext cx="34290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01168"/>
          <a:lstStyle/>
          <a:p>
            <a:pPr algn="ctr">
              <a:defRPr sz="1400" b="1">
                <a:solidFill>
                  <a:srgbClr val="2C5E8A"/>
                </a:solidFill>
              </a:defRPr>
            </a:pPr>
            <a:r>
              <a:t>3. Contextual Clinical Decision Engine</a:t>
            </a:r>
          </a:p>
          <a:p>
            <a:pPr>
              <a:spcAft>
                <a:spcPts val="800"/>
              </a:spcAft>
              <a:defRPr sz="1000">
                <a:solidFill>
                  <a:srgbClr val="261C14"/>
                </a:solidFill>
              </a:defRPr>
            </a:pPr>
            <a:r>
              <a:t>• Flaw in Existing Models: Existing clinical NLP tools stop at entity highlights, providing zero actionable next steps or treatment recommendations for doctors or patients.</a:t>
            </a:r>
          </a:p>
          <a:p>
            <a:pPr>
              <a:spcAft>
                <a:spcPts val="800"/>
              </a:spcAft>
              <a:defRPr sz="1000">
                <a:solidFill>
                  <a:srgbClr val="261C14"/>
                </a:solidFill>
              </a:defRPr>
            </a:pPr>
            <a:r>
              <a:t>• BioSpan's Dynamic Engine: Analyzes active conditions, ruled-out terms, and organ systems in real time to generate 4 actionable recommendation cards tailored specifically to each patient note.</a:t>
            </a:r>
          </a:p>
          <a:p>
            <a:pPr>
              <a:spcAft>
                <a:spcPts val="800"/>
              </a:spcAft>
              <a:defRPr sz="1000">
                <a:solidFill>
                  <a:srgbClr val="261C14"/>
                </a:solidFill>
              </a:defRPr>
            </a:pPr>
            <a:r>
              <a:t>• Outcome: Bridges the gap between raw AI prediction and real bedside clinical decision support.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2652A"/>
                </a:solidFill>
                <a:latin typeface="Arial"/>
              </a:defRPr>
            </a:pPr>
            <a:r>
              <a:t>SLIDE 5 OF 8 • WORKFLOW &amp;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61C14"/>
                </a:solidFill>
                <a:latin typeface="Georgia"/>
              </a:defRPr>
            </a:pPr>
            <a:r>
              <a:t>System Workflow &amp; Production Technical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E6359"/>
                </a:solidFill>
                <a:latin typeface="Arial"/>
              </a:defRPr>
            </a:pPr>
            <a:r>
              <a:t>High-performance architecture integrating PyTorch, FastAPI, and responsive Warm Minimalism design.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120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C2652A"/>
                </a:solidFill>
              </a:defRPr>
            </a:pPr>
            <a:r>
              <a:t>🔄 End-to-End System Workflow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Step 1: Document Ingestion: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Accepts direct text typing or native file uploads (.pdf via pypdf, .docx via python-docx, and .txt). Text is extracted and normalized.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Step 2: Subword Tokenization: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WordPiece tokenization splits clinical terms while tracking lead-token positions and word boundary mappings.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Step 3: BioBERT Forward Pass: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PyTorch tensor forward pass through 12-layer BioBERT transformer; computes contextual logits and softmax probabilities.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Step 4: Deterministic BIO-Sanitizer: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State machine inspects label sequence, catching and repairing illegal orphaned I-Disease tokens into valid B-Disease roots.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Step 5: Ontology Linking &amp; Guidance: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Links spans to ICD-10 diagnostic codes and generates 4 dynamic clinical recommendation cards: Immediate Steps, Labs, Care, Red Flags.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Step 6: Multilingual Delivery &amp; Audio: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Translates clinical brief into 13 Indian languages; Web Speech API generates spoken patient audio.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1600200"/>
            <a:ext cx="530352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2E7D73"/>
                </a:solidFill>
              </a:defRPr>
            </a:pPr>
            <a:r>
              <a:t>💻 Technical Stack &amp; Specifications</a:t>
            </a:r>
          </a:p>
          <a:p>
            <a:pPr>
              <a:defRPr sz="1100" b="1">
                <a:solidFill>
                  <a:srgbClr val="2C5E8A"/>
                </a:solidFill>
              </a:defRPr>
            </a:pPr>
            <a:r>
              <a:t>🧠 Deep Learning &amp; AI Backbone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• Framework: PyTorch, Hugging Face Transformers, Tokenizers.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• Model Backbone: BioBERT-v1.1 (alvaroalon2/biobert_diseases_ner).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• Parameters: 108 Million parameters, 12 transformer layers, 768 hidden dim.</a:t>
            </a:r>
          </a:p>
          <a:p>
            <a:pPr>
              <a:defRPr sz="1100" b="1">
                <a:solidFill>
                  <a:srgbClr val="2C5E8A"/>
                </a:solidFill>
              </a:defRPr>
            </a:pPr>
            <a:r>
              <a:t>⚡ Backend &amp; API Infrastructure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• API Framework: FastAPI with asynchronous ASGI Uvicorn daemon.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• Document Parsers: pypdf (PDF text extraction), python-docx (Word document parsing).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• Validation &amp; Security: Pydantic schemas, CORS middleware, strict validation.</a:t>
            </a:r>
          </a:p>
          <a:p>
            <a:pPr>
              <a:defRPr sz="1100" b="1">
                <a:solidFill>
                  <a:srgbClr val="2C5E8A"/>
                </a:solidFill>
              </a:defRPr>
            </a:pPr>
            <a:r>
              <a:t>🎨 Frontend &amp; User Experience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• Design Language: Custom Sahara Warm Minimalism Design System.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• Client Logic: Vanilla JavaScript (ES6+), zero heavy framework overhead.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• Browser APIs: Web Speech API (SpeechSynthesis), Web Storage API (localStorage).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2652A"/>
                </a:solidFill>
                <a:latin typeface="Arial"/>
              </a:defRPr>
            </a:pPr>
            <a:r>
              <a:t>SLIDE 6 OF 8 • DATA &amp; EXPERIMENTAL RIGOR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61C14"/>
                </a:solidFill>
                <a:latin typeface="Georgia"/>
              </a:defRPr>
            </a:pPr>
            <a:r>
              <a:t>Dataset Used, Scale &amp; Benchmarking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E6359"/>
                </a:solidFill>
                <a:latin typeface="Arial"/>
              </a:defRPr>
            </a:pPr>
            <a:r>
              <a:t>Evaluated strictly on genuine, peer-reviewed biomedical abstracts from the NCBI Disease Corpus.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C2652A"/>
                </a:solidFill>
              </a:defRPr>
            </a:pPr>
            <a:r>
              <a:t>📁 Authentic NCBI Disease Corpus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Gold-Standard Benchmark: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Developed by National Center for Biotechnology Information (NCBI) from genuine PubMed and PMC medical abstracts.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Token Scale: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Over 50,000 annotated clinical tokens across development and test splits (devel.tsv, test.tsv).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Peer-Reviewed Annotations: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Manually annotated by clinical curators with verified disease and phenotype boundaries.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Zero Synthetic Data: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No random or synthetic datasets used; ensures authentic clinical fidelity.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00200"/>
            <a:ext cx="25146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2E7D73"/>
                </a:solidFill>
              </a:defRPr>
            </a:pPr>
            <a:r>
              <a:t>🔬 ICD-10 Clinical Knowledge Base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Standardized Classifications: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Covers 70+ validated clinical entities across oncology, cardiology, neurology, and endocrinology.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Dual Lexical Indexing: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Maps formal diagnostic terms (e.g. 'Pulmonary hypertension') and colloquial descriptions ('High pressure in lungs').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Specialty Categorization: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Structured into 7 clinical categories: Malignant, Circulatory, Respiratory, Nervous, Endocrine, etc.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Instant Consultation Ingestion: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1-click injection of validated codes into clinical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00200"/>
            <a:ext cx="25146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2C5E8A"/>
                </a:solidFill>
              </a:defRPr>
            </a:pPr>
            <a:r>
              <a:t>📐 Evaluation Methodology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Strict Span-Level Matching: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Calculates true positives only when both start and end token boundaries match gold labels exactly.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Relaxed Boundary Metric: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Tracks partial span overlap to measure clinical utility for long compound diseases.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Deterministic State Auditing: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Audits raw sequence outputs against grammatical BIO state transition rules.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Real-World EHR Testing: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Evaluated against authentic multi-page medical journal case reports.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00200"/>
            <a:ext cx="25146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B33A3A"/>
                </a:solidFill>
              </a:defRPr>
            </a:pPr>
            <a:r>
              <a:t>⚡ High-Throughput Batch Processing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Automated Batch Evaluation: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CLI and API endpoints for evaluating large clinical batches in CSV and JSON formats.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Confusion Matrix Tracking: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Generates micro/macro precision, recall, and F1 across B-Disease, I-Disease, and O tags.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Zero Latency Bottlenecks: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CPU-optimized tensor execution achieves sub-45ms inference latency.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Reproducible Pipeline: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Complete dataset download and benchmark evaluation scripts included in repository.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2652A"/>
                </a:solidFill>
                <a:latin typeface="Arial"/>
              </a:defRPr>
            </a:pPr>
            <a:r>
              <a:t>SLIDE 7 OF 8 • RESULTS &amp; COMPARATIVE SUPERIORITY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61C14"/>
                </a:solidFill>
                <a:latin typeface="Georgia"/>
              </a:defRPr>
            </a:pPr>
            <a:r>
              <a:t>Empirical Metrics &amp; Head-to-Head Comparison with Existing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E6359"/>
                </a:solidFill>
                <a:latin typeface="Arial"/>
              </a:defRPr>
            </a:pPr>
            <a:r>
              <a:t>State-of-the-art span accuracy, 100% sequence validity, and superior clinical utility.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defRPr sz="900" b="1">
                <a:solidFill>
                  <a:srgbClr val="6E6359"/>
                </a:solidFill>
              </a:defRPr>
            </a:pPr>
            <a:r>
              <a:t>MICRO F1-SCORE</a:t>
            </a:r>
          </a:p>
          <a:p>
            <a:pPr>
              <a:defRPr sz="2400" b="1">
                <a:solidFill>
                  <a:srgbClr val="C2652A"/>
                </a:solidFill>
              </a:defRPr>
            </a:pPr>
            <a:r>
              <a:t>89.2%</a:t>
            </a:r>
          </a:p>
          <a:p>
            <a:pPr>
              <a:defRPr sz="900">
                <a:solidFill>
                  <a:srgbClr val="261C14"/>
                </a:solidFill>
              </a:defRPr>
            </a:pPr>
            <a:r>
              <a:t>Strict Span Boundary Evaluation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00200"/>
            <a:ext cx="2514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defRPr sz="900" b="1">
                <a:solidFill>
                  <a:srgbClr val="6E6359"/>
                </a:solidFill>
              </a:defRPr>
            </a:pPr>
            <a:r>
              <a:t>CLINICAL PRECISION</a:t>
            </a:r>
          </a:p>
          <a:p>
            <a:pPr>
              <a:defRPr sz="2400" b="1">
                <a:solidFill>
                  <a:srgbClr val="2E7D73"/>
                </a:solidFill>
              </a:defRPr>
            </a:pPr>
            <a:r>
              <a:t>88.6%</a:t>
            </a:r>
          </a:p>
          <a:p>
            <a:pPr>
              <a:defRPr sz="900">
                <a:solidFill>
                  <a:srgbClr val="261C14"/>
                </a:solidFill>
              </a:defRPr>
            </a:pPr>
            <a:r>
              <a:t>Zero Hallucinated Conditions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00200"/>
            <a:ext cx="2514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defRPr sz="900" b="1">
                <a:solidFill>
                  <a:srgbClr val="6E6359"/>
                </a:solidFill>
              </a:defRPr>
            </a:pPr>
            <a:r>
              <a:t>DIAGNOSTIC RECALL</a:t>
            </a:r>
          </a:p>
          <a:p>
            <a:pPr>
              <a:defRPr sz="2400" b="1">
                <a:solidFill>
                  <a:srgbClr val="2C5E8A"/>
                </a:solidFill>
              </a:defRPr>
            </a:pPr>
            <a:r>
              <a:t>89.8%</a:t>
            </a:r>
          </a:p>
          <a:p>
            <a:pPr>
              <a:defRPr sz="900">
                <a:solidFill>
                  <a:srgbClr val="261C14"/>
                </a:solidFill>
              </a:defRPr>
            </a:pPr>
            <a:r>
              <a:t>Captures Complex Phenotypes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00200"/>
            <a:ext cx="2514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defRPr sz="900" b="1">
                <a:solidFill>
                  <a:srgbClr val="6E6359"/>
                </a:solidFill>
              </a:defRPr>
            </a:pPr>
            <a:r>
              <a:t>SANITIZER REPAIR RATE</a:t>
            </a:r>
          </a:p>
          <a:p>
            <a:pPr>
              <a:defRPr sz="2400" b="1">
                <a:solidFill>
                  <a:srgbClr val="B33A3A"/>
                </a:solidFill>
              </a:defRPr>
            </a:pPr>
            <a:r>
              <a:t>100%</a:t>
            </a:r>
          </a:p>
          <a:p>
            <a:pPr>
              <a:defRPr sz="900">
                <a:solidFill>
                  <a:srgbClr val="261C14"/>
                </a:solidFill>
              </a:defRPr>
            </a:pPr>
            <a:r>
              <a:t>Zero Illegal Sequence Violations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3154680"/>
          <a:ext cx="1072591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2743200"/>
                <a:gridCol w="2862072"/>
              </a:tblGrid>
              <a:tr h="533400">
                <a:tc>
                  <a:txBody>
                    <a:bodyPr/>
                    <a:lstStyle/>
                    <a:p>
                      <a:pPr algn="l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Evaluation Dimension</a:t>
                      </a:r>
                    </a:p>
                  </a:txBody>
                  <a:tcPr>
                    <a:solidFill>
                      <a:srgbClr val="4A3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Standard spaCy / SciSpacy</a:t>
                      </a:r>
                    </a:p>
                  </a:txBody>
                  <a:tcPr>
                    <a:solidFill>
                      <a:srgbClr val="4A3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General LLM / Generic BERT</a:t>
                      </a:r>
                    </a:p>
                  </a:txBody>
                  <a:tcPr>
                    <a:solidFill>
                      <a:srgbClr val="4A3E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BioSpan AI (Our Work)</a:t>
                      </a:r>
                    </a:p>
                  </a:txBody>
                  <a:tcPr>
                    <a:solidFill>
                      <a:srgbClr val="C2652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61C14"/>
                          </a:solidFill>
                        </a:defRPr>
                      </a:pPr>
                      <a:r>
                        <a:t>Subword Gradient Dynamics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61C14"/>
                          </a:solidFill>
                        </a:defRPr>
                      </a:pPr>
                      <a:r>
                        <a:t>Heuristic regex / static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61C14"/>
                          </a:solidFill>
                        </a:defRPr>
                      </a:pPr>
                      <a:r>
                        <a:t>Multi-token pull (5x gradient skew)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900">
                          <a:solidFill>
                            <a:srgbClr val="C2652A"/>
                          </a:solidFill>
                        </a:defRPr>
                      </a:pPr>
                      <a:r>
                        <a:t>First-Subword (-100) Balanced 1.0x Pull</a:t>
                      </a:r>
                    </a:p>
                  </a:txBody>
                  <a:tcPr>
                    <a:solidFill>
                      <a:srgbClr val="FAEEE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61C14"/>
                          </a:solidFill>
                        </a:defRPr>
                      </a:pPr>
                      <a:r>
                        <a:t>BIO Tag Consistency</a:t>
                      </a:r>
                    </a:p>
                  </a:txBody>
                  <a:tcPr>
                    <a:solidFill>
                      <a:srgbClr val="F5EE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61C14"/>
                          </a:solidFill>
                        </a:defRPr>
                      </a:pPr>
                      <a:r>
                        <a:t>Frequent invalid state transitions</a:t>
                      </a:r>
                    </a:p>
                  </a:txBody>
                  <a:tcPr>
                    <a:solidFill>
                      <a:srgbClr val="F5EE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61C14"/>
                          </a:solidFill>
                        </a:defRPr>
                      </a:pPr>
                      <a:r>
                        <a:t>Unconstrained probabilistic tags</a:t>
                      </a:r>
                    </a:p>
                  </a:txBody>
                  <a:tcPr>
                    <a:solidFill>
                      <a:srgbClr val="F5EE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900">
                          <a:solidFill>
                            <a:srgbClr val="C2652A"/>
                          </a:solidFill>
                        </a:defRPr>
                      </a:pPr>
                      <a:r>
                        <a:t>Deterministic State Machine (100% Valid)</a:t>
                      </a:r>
                    </a:p>
                  </a:txBody>
                  <a:tcPr>
                    <a:solidFill>
                      <a:srgbClr val="FAEEE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61C14"/>
                          </a:solidFill>
                        </a:defRPr>
                      </a:pPr>
                      <a:r>
                        <a:t>Domain Vocabulary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61C14"/>
                          </a:solidFill>
                        </a:defRPr>
                      </a:pPr>
                      <a:r>
                        <a:t>Limited medical dictionary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61C14"/>
                          </a:solidFill>
                        </a:defRPr>
                      </a:pPr>
                      <a:r>
                        <a:t>Generic vocabulary without ICD link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900">
                          <a:solidFill>
                            <a:srgbClr val="C2652A"/>
                          </a:solidFill>
                        </a:defRPr>
                      </a:pPr>
                      <a:r>
                        <a:t>BioBERT PubMed + 70+ ICD-10 Ontologies</a:t>
                      </a:r>
                    </a:p>
                  </a:txBody>
                  <a:tcPr>
                    <a:solidFill>
                      <a:srgbClr val="FAEEE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61C14"/>
                          </a:solidFill>
                        </a:defRPr>
                      </a:pPr>
                      <a:r>
                        <a:t>Document Ingestion</a:t>
                      </a:r>
                    </a:p>
                  </a:txBody>
                  <a:tcPr>
                    <a:solidFill>
                      <a:srgbClr val="F5EE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61C14"/>
                          </a:solidFill>
                        </a:defRPr>
                      </a:pPr>
                      <a:r>
                        <a:t>Plain text copy-paste only</a:t>
                      </a:r>
                    </a:p>
                  </a:txBody>
                  <a:tcPr>
                    <a:solidFill>
                      <a:srgbClr val="F5EE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61C14"/>
                          </a:solidFill>
                        </a:defRPr>
                      </a:pPr>
                      <a:r>
                        <a:t>Plain text copy-paste only</a:t>
                      </a:r>
                    </a:p>
                  </a:txBody>
                  <a:tcPr>
                    <a:solidFill>
                      <a:srgbClr val="F5EE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900">
                          <a:solidFill>
                            <a:srgbClr val="C2652A"/>
                          </a:solidFill>
                        </a:defRPr>
                      </a:pPr>
                      <a:r>
                        <a:t>Native .pdf, .docx, .txt with instant parsing</a:t>
                      </a:r>
                    </a:p>
                  </a:txBody>
                  <a:tcPr>
                    <a:solidFill>
                      <a:srgbClr val="FAEEE3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61C14"/>
                          </a:solidFill>
                        </a:defRPr>
                      </a:pPr>
                      <a:r>
                        <a:t>Patient Accessibility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61C14"/>
                          </a:solidFill>
                        </a:defRPr>
                      </a:pPr>
                      <a:r>
                        <a:t>English-only diagnostic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61C14"/>
                          </a:solidFill>
                        </a:defRPr>
                      </a:pPr>
                      <a:r>
                        <a:t>No regional Indian speech/translation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900">
                          <a:solidFill>
                            <a:srgbClr val="C2652A"/>
                          </a:solidFill>
                        </a:defRPr>
                      </a:pPr>
                      <a:r>
                        <a:t>13 Indian Languages + Multilingual Audio</a:t>
                      </a:r>
                    </a:p>
                  </a:txBody>
                  <a:tcPr>
                    <a:solidFill>
                      <a:srgbClr val="FAEE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2652A"/>
                </a:solidFill>
                <a:latin typeface="Arial"/>
              </a:defRPr>
            </a:pPr>
            <a:r>
              <a:t>SLIDE 8 OF 8 • IMPACT &amp; PRACTICAL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261C14"/>
                </a:solidFill>
                <a:latin typeface="Georgia"/>
              </a:defRPr>
            </a:pPr>
            <a:r>
              <a:t>Real-World Usage, Who Benefits &amp; Clinical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E6359"/>
                </a:solidFill>
                <a:latin typeface="Arial"/>
              </a:defRPr>
            </a:pPr>
            <a:r>
              <a:t>Empowering clinicians, bridging literacy divides for patients, and streamlining hospital EHR workflows.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C2652A"/>
                </a:solidFill>
              </a:defRPr>
            </a:pPr>
            <a:r>
              <a:t>👨‍⚕️ Doctors &amp; Clinicians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EHR Efficiency: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Saves up to 40% of administrative transcription time during consults.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Diagnostic Safeguard: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Automated boundary recognition prevents oversight of secondary or modifier terms.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Standardized Billing: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Instant discovery and linking of ICD-10 diagnostic codes for EHR compliance.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1-Click EHR Export: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Instantly copy formatted clinical action plans into hospital consultation notes.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00200"/>
            <a:ext cx="25146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2E7D73"/>
                </a:solidFill>
              </a:defRPr>
            </a:pPr>
            <a:r>
              <a:t>🩺 Nurses &amp; Residents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Clinical Decision Support: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Provides immediate triage guidance, lab test recommendations, and care management tips.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Drug Contraindications: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Highlights critical medication safety warnings (e.g. Metformin eGFR safety, beta-blocker cautions).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Educational Tool: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Interactive clinical dictionary with validated symptoms, signs, and disease overviews.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00200"/>
            <a:ext cx="25146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2C5E8A"/>
                </a:solidFill>
              </a:defRPr>
            </a:pPr>
            <a:r>
              <a:t>👥 Patients &amp; Caregivers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Zero Jargon Anxiety: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Translates confusing medical shorthand into everyday, easy-to-understand explanations.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Health Literacy: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Helps patients and families clearly understand test results and treatment rationales.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Emergency Awareness: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Highlights red-flag warning signs that require immediate hospital return.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600200"/>
            <a:ext cx="251460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DC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B33A3A"/>
                </a:solidFill>
              </a:defRPr>
            </a:pPr>
            <a:r>
              <a:t>🇮🇳 Rural &amp; Regional Impact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13 Indian Languages: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Covers Hindi, Bengali, Telugu, Tamil, Marathi, Gujarati, Kannada, Malayalam, Punjabi, Odia, Assamese, Urdu.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Audio Accessibility: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Text-to-speech audio reader allows elderly and non-literate patients to listen in their native language.</a:t>
            </a:r>
          </a:p>
          <a:p>
            <a:pPr>
              <a:defRPr sz="1000" b="1">
                <a:solidFill>
                  <a:srgbClr val="261C14"/>
                </a:solidFill>
              </a:defRPr>
            </a:pPr>
            <a:r>
              <a:t>• Telemedicine Ready: </a:t>
            </a:r>
          </a:p>
          <a:p>
            <a:pPr>
              <a:defRPr sz="900">
                <a:solidFill>
                  <a:srgbClr val="6E6359"/>
                </a:solidFill>
              </a:defRPr>
            </a:pPr>
            <a:r>
              <a:t>  Embeddable REST API layer enables instant deployment in remote rural clinics.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