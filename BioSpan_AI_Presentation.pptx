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2652A"/>
                </a:solidFill>
                <a:latin typeface="Arial"/>
              </a:defRPr>
            </a:pPr>
            <a:r>
              <a:t>SLIDE 1 • CORE ENGINEERING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61C14"/>
                </a:solidFill>
                <a:latin typeface="Georgia"/>
              </a:defRPr>
            </a:pPr>
            <a:r>
              <a:t>BioSpan AI: Biomedical NER, Subword Alignment &amp; Clinical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E6359"/>
                </a:solidFill>
                <a:latin typeface="Arial"/>
              </a:defRPr>
            </a:pPr>
            <a:r>
              <a:t>End-to-end framework resolving clinical entity recognition, multi-word boundary loss, and jargon barriers.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251460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B33A3A"/>
                </a:solidFill>
              </a:defRPr>
            </a:pPr>
            <a:r>
              <a:t>🚨 Problem Statement</a:t>
            </a:r>
          </a:p>
          <a:p>
            <a:pPr>
              <a:defRPr sz="1000" b="1">
                <a:solidFill>
                  <a:srgbClr val="261C14"/>
                </a:solidFill>
              </a:defRPr>
            </a:pPr>
            <a:r>
              <a:t>• Multi-Word Clinical Entities: </a:t>
            </a:r>
          </a:p>
          <a:p>
            <a:pPr>
              <a:defRPr sz="900">
                <a:solidFill>
                  <a:srgbClr val="6E6359"/>
                </a:solidFill>
              </a:defRPr>
            </a:pPr>
            <a:r>
              <a:t>  Disease names are compound phenotypes (e.g. 'non-small cell lung carcinoma', 'autoimmune hemolytic anemia'). Standard NLP discards vital modifiers.</a:t>
            </a:r>
          </a:p>
          <a:p>
            <a:pPr>
              <a:defRPr sz="1000" b="1">
                <a:solidFill>
                  <a:srgbClr val="261C14"/>
                </a:solidFill>
              </a:defRPr>
            </a:pPr>
            <a:r>
              <a:t>• Tokenization Subword Shredding: </a:t>
            </a:r>
          </a:p>
          <a:p>
            <a:pPr>
              <a:defRPr sz="900">
                <a:solidFill>
                  <a:srgbClr val="6E6359"/>
                </a:solidFill>
              </a:defRPr>
            </a:pPr>
            <a:r>
              <a:t>  WordPiece fragments medical terms ('ataxia' -&gt; 'at', '##ax', '##ia'), causing severe gradient skew and boundary loss.</a:t>
            </a:r>
          </a:p>
          <a:p>
            <a:pPr>
              <a:defRPr sz="1000" b="1">
                <a:solidFill>
                  <a:srgbClr val="261C14"/>
                </a:solidFill>
              </a:defRPr>
            </a:pPr>
            <a:r>
              <a:t>• Illegal BIO Transitions: </a:t>
            </a:r>
          </a:p>
          <a:p>
            <a:pPr>
              <a:defRPr sz="900">
                <a:solidFill>
                  <a:srgbClr val="6E6359"/>
                </a:solidFill>
              </a:defRPr>
            </a:pPr>
            <a:r>
              <a:t>  Probabilistic argmax outputs invalid sequences (e.g. orphaned I-Disease without preceding B-Disease).</a:t>
            </a:r>
          </a:p>
          <a:p>
            <a:pPr>
              <a:defRPr sz="1000" b="1">
                <a:solidFill>
                  <a:srgbClr val="261C14"/>
                </a:solidFill>
              </a:defRPr>
            </a:pPr>
            <a:r>
              <a:t>• Healthcare Burden: </a:t>
            </a:r>
          </a:p>
          <a:p>
            <a:pPr>
              <a:defRPr sz="900">
                <a:solidFill>
                  <a:srgbClr val="6E6359"/>
                </a:solidFill>
              </a:defRPr>
            </a:pPr>
            <a:r>
              <a:t>  Doctors waste 40% time deciphering EHRs; patients face confusing jargon and language barriers.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00200"/>
            <a:ext cx="251460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C2652A"/>
                </a:solidFill>
              </a:defRPr>
            </a:pPr>
            <a:r>
              <a:t>💡 The BioSpan AI Solution</a:t>
            </a:r>
          </a:p>
          <a:p>
            <a:pPr>
              <a:defRPr sz="1000" b="1">
                <a:solidFill>
                  <a:srgbClr val="261C14"/>
                </a:solidFill>
              </a:defRPr>
            </a:pPr>
            <a:r>
              <a:t>• Domain-Specific Representation: </a:t>
            </a:r>
          </a:p>
          <a:p>
            <a:pPr>
              <a:defRPr sz="900">
                <a:solidFill>
                  <a:srgbClr val="6E6359"/>
                </a:solidFill>
              </a:defRPr>
            </a:pPr>
            <a:r>
              <a:t>  Fine-tuned BioBERT transformer trained on PubMed biomedical abstracts for true medical semantics.</a:t>
            </a:r>
          </a:p>
          <a:p>
            <a:pPr>
              <a:defRPr sz="1000" b="1">
                <a:solidFill>
                  <a:srgbClr val="261C14"/>
                </a:solidFill>
              </a:defRPr>
            </a:pPr>
            <a:r>
              <a:t>• Exact Entity Span Extraction: </a:t>
            </a:r>
          </a:p>
          <a:p>
            <a:pPr>
              <a:defRPr sz="900">
                <a:solidFill>
                  <a:srgbClr val="6E6359"/>
                </a:solidFill>
              </a:defRPr>
            </a:pPr>
            <a:r>
              <a:t>  Detects full disease boundaries and separates active conditions from ruled-out / negative mentions.</a:t>
            </a:r>
          </a:p>
          <a:p>
            <a:pPr>
              <a:defRPr sz="1000" b="1">
                <a:solidFill>
                  <a:srgbClr val="261C14"/>
                </a:solidFill>
              </a:defRPr>
            </a:pPr>
            <a:r>
              <a:t>• Standardized ICD-10 Linking: </a:t>
            </a:r>
          </a:p>
          <a:p>
            <a:pPr>
              <a:defRPr sz="900">
                <a:solidFill>
                  <a:srgbClr val="6E6359"/>
                </a:solidFill>
              </a:defRPr>
            </a:pPr>
            <a:r>
              <a:t>  Automatically links detected spans to official diagnostic codes (e.g. C34.90, I27.20, E11.40).</a:t>
            </a:r>
          </a:p>
          <a:p>
            <a:pPr>
              <a:defRPr sz="1000" b="1">
                <a:solidFill>
                  <a:srgbClr val="261C14"/>
                </a:solidFill>
              </a:defRPr>
            </a:pPr>
            <a:r>
              <a:t>• Multilingual Translation &amp; Speech: </a:t>
            </a:r>
          </a:p>
          <a:p>
            <a:pPr>
              <a:defRPr sz="900">
                <a:solidFill>
                  <a:srgbClr val="6E6359"/>
                </a:solidFill>
              </a:defRPr>
            </a:pPr>
            <a:r>
              <a:t>  Converts clinical briefs into 13 Indian languages with text-to-speech audio reader.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00200"/>
            <a:ext cx="251460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2E7D73"/>
                </a:solidFill>
              </a:defRPr>
            </a:pPr>
            <a:r>
              <a:t>⚙️ End-to-End Workflow</a:t>
            </a:r>
          </a:p>
          <a:p>
            <a:pPr>
              <a:defRPr sz="1000" b="1">
                <a:solidFill>
                  <a:srgbClr val="261C14"/>
                </a:solidFill>
              </a:defRPr>
            </a:pPr>
            <a:r>
              <a:t>1. Ingestion: </a:t>
            </a:r>
          </a:p>
          <a:p>
            <a:pPr>
              <a:defRPr sz="900">
                <a:solidFill>
                  <a:srgbClr val="6E6359"/>
                </a:solidFill>
              </a:defRPr>
            </a:pPr>
            <a:r>
              <a:t>Direct input or file upload (.pdf, .docx, .txt). Text extracted and cleaned.</a:t>
            </a:r>
          </a:p>
          <a:p>
            <a:pPr>
              <a:defRPr sz="1000" b="1">
                <a:solidFill>
                  <a:srgbClr val="261C14"/>
                </a:solidFill>
              </a:defRPr>
            </a:pPr>
            <a:r>
              <a:t>2. Subword Tokenization: </a:t>
            </a:r>
          </a:p>
          <a:p>
            <a:pPr>
              <a:defRPr sz="900">
                <a:solidFill>
                  <a:srgbClr val="6E6359"/>
                </a:solidFill>
              </a:defRPr>
            </a:pPr>
            <a:r>
              <a:t>WordPiece split with lead-token tracking and boundary mapping.</a:t>
            </a:r>
          </a:p>
          <a:p>
            <a:pPr>
              <a:defRPr sz="1000" b="1">
                <a:solidFill>
                  <a:srgbClr val="261C14"/>
                </a:solidFill>
              </a:defRPr>
            </a:pPr>
            <a:r>
              <a:t>3. BioBERT Tensor Forward: </a:t>
            </a:r>
          </a:p>
          <a:p>
            <a:pPr>
              <a:defRPr sz="900">
                <a:solidFill>
                  <a:srgbClr val="6E6359"/>
                </a:solidFill>
              </a:defRPr>
            </a:pPr>
            <a:r>
              <a:t>Computes contextual logits &amp; softmax probabilities across B/I/O classes.</a:t>
            </a:r>
          </a:p>
          <a:p>
            <a:pPr>
              <a:defRPr sz="1000" b="1">
                <a:solidFill>
                  <a:srgbClr val="261C14"/>
                </a:solidFill>
              </a:defRPr>
            </a:pPr>
            <a:r>
              <a:t>4. Deterministic BIO-Sanitizer: </a:t>
            </a:r>
          </a:p>
          <a:p>
            <a:pPr>
              <a:defRPr sz="900">
                <a:solidFill>
                  <a:srgbClr val="6E6359"/>
                </a:solidFill>
              </a:defRPr>
            </a:pPr>
            <a:r>
              <a:t>State machine intercepts &amp; repairs orphaned I-tags into valid B-tags.</a:t>
            </a:r>
          </a:p>
          <a:p>
            <a:pPr>
              <a:defRPr sz="1000" b="1">
                <a:solidFill>
                  <a:srgbClr val="261C14"/>
                </a:solidFill>
              </a:defRPr>
            </a:pPr>
            <a:r>
              <a:t>5. ICD-10 &amp; Action Plan: </a:t>
            </a:r>
          </a:p>
          <a:p>
            <a:pPr>
              <a:defRPr sz="900">
                <a:solidFill>
                  <a:srgbClr val="6E6359"/>
                </a:solidFill>
              </a:defRPr>
            </a:pPr>
            <a:r>
              <a:t>Links standardized codes and dynamically generates next-step recommendations.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600200"/>
            <a:ext cx="251460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2C5E8A"/>
                </a:solidFill>
              </a:defRPr>
            </a:pPr>
            <a:r>
              <a:t>💻 Technical Stack</a:t>
            </a:r>
          </a:p>
          <a:p>
            <a:pPr>
              <a:defRPr sz="1000" b="1">
                <a:solidFill>
                  <a:srgbClr val="261C14"/>
                </a:solidFill>
              </a:defRPr>
            </a:pPr>
            <a:r>
              <a:t>• Deep Learning Framework: </a:t>
            </a:r>
          </a:p>
          <a:p>
            <a:pPr>
              <a:defRPr sz="900">
                <a:solidFill>
                  <a:srgbClr val="6E6359"/>
                </a:solidFill>
              </a:defRPr>
            </a:pPr>
            <a:r>
              <a:t>  PyTorch, Hugging Face Transformers, Tokenizers.</a:t>
            </a:r>
          </a:p>
          <a:p>
            <a:pPr>
              <a:defRPr sz="1000" b="1">
                <a:solidFill>
                  <a:srgbClr val="261C14"/>
                </a:solidFill>
              </a:defRPr>
            </a:pPr>
            <a:r>
              <a:t>• Model Backbone: </a:t>
            </a:r>
          </a:p>
          <a:p>
            <a:pPr>
              <a:defRPr sz="900">
                <a:solidFill>
                  <a:srgbClr val="6E6359"/>
                </a:solidFill>
              </a:defRPr>
            </a:pPr>
            <a:r>
              <a:t>  BioBERT-v1.1 (alvaroalon2/biobert_diseases_ner) with 108M parameters.</a:t>
            </a:r>
          </a:p>
          <a:p>
            <a:pPr>
              <a:defRPr sz="1000" b="1">
                <a:solidFill>
                  <a:srgbClr val="261C14"/>
                </a:solidFill>
              </a:defRPr>
            </a:pPr>
            <a:r>
              <a:t>• Backend Services: </a:t>
            </a:r>
          </a:p>
          <a:p>
            <a:pPr>
              <a:defRPr sz="900">
                <a:solidFill>
                  <a:srgbClr val="6E6359"/>
                </a:solidFill>
              </a:defRPr>
            </a:pPr>
            <a:r>
              <a:t>  FastAPI, Uvicorn (ASGI daemon), Pydantic, pypdf, python-docx.</a:t>
            </a:r>
          </a:p>
          <a:p>
            <a:pPr>
              <a:defRPr sz="1000" b="1">
                <a:solidFill>
                  <a:srgbClr val="261C14"/>
                </a:solidFill>
              </a:defRPr>
            </a:pPr>
            <a:r>
              <a:t>• Frontend &amp; UI/UX: </a:t>
            </a:r>
          </a:p>
          <a:p>
            <a:pPr>
              <a:defRPr sz="900">
                <a:solidFill>
                  <a:srgbClr val="6E6359"/>
                </a:solidFill>
              </a:defRPr>
            </a:pPr>
            <a:r>
              <a:t>  Vanilla JavaScript, Custom Sahara Warm Minimalism Design System.</a:t>
            </a:r>
          </a:p>
          <a:p>
            <a:pPr>
              <a:defRPr sz="1000" b="1">
                <a:solidFill>
                  <a:srgbClr val="261C14"/>
                </a:solidFill>
              </a:defRPr>
            </a:pPr>
            <a:r>
              <a:t>• Browser &amp; Speech APIs: </a:t>
            </a:r>
          </a:p>
          <a:p>
            <a:pPr>
              <a:defRPr sz="900">
                <a:solidFill>
                  <a:srgbClr val="6E6359"/>
                </a:solidFill>
              </a:defRPr>
            </a:pPr>
            <a:r>
              <a:t>  Web Speech API (SpeechSynthesis), Web Storage API, RESTful Endpoints.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2652A"/>
                </a:solidFill>
                <a:latin typeface="Arial"/>
              </a:defRPr>
            </a:pPr>
            <a:r>
              <a:t>SLIDE 2 • INNOVATION &amp; COMPARATIVE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61C14"/>
                </a:solidFill>
                <a:latin typeface="Georgia"/>
              </a:defRPr>
            </a:pPr>
            <a:r>
              <a:t>Uniqueness, Novelty &amp; Head-to-Head Model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E6359"/>
                </a:solidFill>
                <a:latin typeface="Arial"/>
              </a:defRPr>
            </a:pPr>
            <a:r>
              <a:t>Mathematical First-Subword Alignment, Deterministic BIO-Sanitizer, and Superiority over Conventional NLP.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4290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200" b="1">
                <a:solidFill>
                  <a:srgbClr val="C2652A"/>
                </a:solidFill>
              </a:defRPr>
            </a:pPr>
            <a:r>
              <a:t>1. First-Subword Loss Masking (-100)</a:t>
            </a:r>
          </a:p>
          <a:p>
            <a:pPr>
              <a:defRPr sz="900">
                <a:solidFill>
                  <a:srgbClr val="261C14"/>
                </a:solidFill>
              </a:defRPr>
            </a:pPr>
            <a:r>
              <a:t>• Naive token classification updates loss across all subword shards, giving 5x disproportionate weight to long terms.</a:t>
            </a:r>
          </a:p>
          <a:p>
            <a:pPr>
              <a:defRPr sz="900">
                <a:solidFill>
                  <a:srgbClr val="261C14"/>
                </a:solidFill>
              </a:defRPr>
            </a:pPr>
            <a:r>
              <a:t>• BioSpan aligns labels strictly to the lead subword and assigns -100 (ignore_index) to continuation subwords, enforcing a mathematically balanced 1.0x gradient pull.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600200"/>
            <a:ext cx="34290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200" b="1">
                <a:solidFill>
                  <a:srgbClr val="2E7D73"/>
                </a:solidFill>
              </a:defRPr>
            </a:pPr>
            <a:r>
              <a:t>2. Deterministic BIO-Sanitizer Machine</a:t>
            </a:r>
          </a:p>
          <a:p>
            <a:pPr>
              <a:defRPr sz="900">
                <a:solidFill>
                  <a:srgbClr val="261C14"/>
                </a:solidFill>
              </a:defRPr>
            </a:pPr>
            <a:r>
              <a:t>• Standard neural models suffer from unconstrained argmax, outputting invalid sequences like O -&gt; I-Disease.</a:t>
            </a:r>
          </a:p>
          <a:p>
            <a:pPr>
              <a:defRPr sz="900">
                <a:solidFill>
                  <a:srgbClr val="261C14"/>
                </a:solidFill>
              </a:defRPr>
            </a:pPr>
            <a:r>
              <a:t>• BioSpan implements a deterministic finite-state interceptor that rewires orphaned I-Disease tags back to B-Disease, guaranteeing 100% syntactically valid clinical spans.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600200"/>
            <a:ext cx="34290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200" b="1">
                <a:solidFill>
                  <a:srgbClr val="2C5E8A"/>
                </a:solidFill>
              </a:defRPr>
            </a:pPr>
            <a:r>
              <a:t>3. Multilingual Care &amp; Decision Engine</a:t>
            </a:r>
          </a:p>
          <a:p>
            <a:pPr>
              <a:defRPr sz="900">
                <a:solidFill>
                  <a:srgbClr val="261C14"/>
                </a:solidFill>
              </a:defRPr>
            </a:pPr>
            <a:r>
              <a:t>• Clinical NLP solutions are exclusively English and lack actionable patient guidance.</a:t>
            </a:r>
          </a:p>
          <a:p>
            <a:pPr>
              <a:defRPr sz="900">
                <a:solidFill>
                  <a:srgbClr val="261C14"/>
                </a:solidFill>
              </a:defRPr>
            </a:pPr>
            <a:r>
              <a:t>• BioSpan integrates 13 Indian languages, interactive spoken audio via SpeechSynthesis, and generates real-time next-step clinical investigations for each report.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3794760"/>
          <a:ext cx="10725912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743200"/>
                <a:gridCol w="2743200"/>
                <a:gridCol w="2862072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Feature / Capability</a:t>
                      </a:r>
                    </a:p>
                  </a:txBody>
                  <a:tcPr>
                    <a:solidFill>
                      <a:srgbClr val="4A3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Standard spaCy / SciSpacy</a:t>
                      </a:r>
                    </a:p>
                  </a:txBody>
                  <a:tcPr>
                    <a:solidFill>
                      <a:srgbClr val="4A3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General LLM / Generic BERT</a:t>
                      </a:r>
                    </a:p>
                  </a:txBody>
                  <a:tcPr>
                    <a:solidFill>
                      <a:srgbClr val="4A3E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BioSpan AI (Our Work)</a:t>
                      </a:r>
                    </a:p>
                  </a:txBody>
                  <a:tcPr>
                    <a:solidFill>
                      <a:srgbClr val="C265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61C14"/>
                          </a:solidFill>
                        </a:defRPr>
                      </a:pPr>
                      <a:r>
                        <a:t>Subword Gradient Dynamics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61C14"/>
                          </a:solidFill>
                        </a:defRPr>
                      </a:pPr>
                      <a:r>
                        <a:t>Heuristic regex / heuristic tokens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61C14"/>
                          </a:solidFill>
                        </a:defRPr>
                      </a:pPr>
                      <a:r>
                        <a:t>Multi-token pull (5x gradient skew)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900">
                          <a:solidFill>
                            <a:srgbClr val="C2652A"/>
                          </a:solidFill>
                        </a:defRPr>
                      </a:pPr>
                      <a:r>
                        <a:t>First-Subword (-100) Balanced 1.0x Pull</a:t>
                      </a:r>
                    </a:p>
                  </a:txBody>
                  <a:tcPr>
                    <a:solidFill>
                      <a:srgbClr val="FAEEE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61C14"/>
                          </a:solidFill>
                        </a:defRPr>
                      </a:pPr>
                      <a:r>
                        <a:t>BIO Tag Validity</a:t>
                      </a:r>
                    </a:p>
                  </a:txBody>
                  <a:tcPr>
                    <a:solidFill>
                      <a:srgbClr val="F5EE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61C14"/>
                          </a:solidFill>
                        </a:defRPr>
                      </a:pPr>
                      <a:r>
                        <a:t>Frequent invalid state transitions</a:t>
                      </a:r>
                    </a:p>
                  </a:txBody>
                  <a:tcPr>
                    <a:solidFill>
                      <a:srgbClr val="F5EE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61C14"/>
                          </a:solidFill>
                        </a:defRPr>
                      </a:pPr>
                      <a:r>
                        <a:t>Unconstrained probabilistic tags</a:t>
                      </a:r>
                    </a:p>
                  </a:txBody>
                  <a:tcPr>
                    <a:solidFill>
                      <a:srgbClr val="F5EE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900">
                          <a:solidFill>
                            <a:srgbClr val="C2652A"/>
                          </a:solidFill>
                        </a:defRPr>
                      </a:pPr>
                      <a:r>
                        <a:t>Deterministic State Machine (100% Valid)</a:t>
                      </a:r>
                    </a:p>
                  </a:txBody>
                  <a:tcPr>
                    <a:solidFill>
                      <a:srgbClr val="FAEEE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61C14"/>
                          </a:solidFill>
                        </a:defRPr>
                      </a:pPr>
                      <a:r>
                        <a:t>Domain Vocabulary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61C14"/>
                          </a:solidFill>
                        </a:defRPr>
                      </a:pPr>
                      <a:r>
                        <a:t>Limited medical entity dictionary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61C14"/>
                          </a:solidFill>
                        </a:defRPr>
                      </a:pPr>
                      <a:r>
                        <a:t>Generic vocabulary without ICD link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900">
                          <a:solidFill>
                            <a:srgbClr val="C2652A"/>
                          </a:solidFill>
                        </a:defRPr>
                      </a:pPr>
                      <a:r>
                        <a:t>BioBERT + 70+ Verified ICD-10 Ontologies</a:t>
                      </a:r>
                    </a:p>
                  </a:txBody>
                  <a:tcPr>
                    <a:solidFill>
                      <a:srgbClr val="FAEEE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61C14"/>
                          </a:solidFill>
                        </a:defRPr>
                      </a:pPr>
                      <a:r>
                        <a:t>Document Ingestion</a:t>
                      </a:r>
                    </a:p>
                  </a:txBody>
                  <a:tcPr>
                    <a:solidFill>
                      <a:srgbClr val="F5EE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61C14"/>
                          </a:solidFill>
                        </a:defRPr>
                      </a:pPr>
                      <a:r>
                        <a:t>Raw string input only</a:t>
                      </a:r>
                    </a:p>
                  </a:txBody>
                  <a:tcPr>
                    <a:solidFill>
                      <a:srgbClr val="F5EE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61C14"/>
                          </a:solidFill>
                        </a:defRPr>
                      </a:pPr>
                      <a:r>
                        <a:t>Plain text copy-paste</a:t>
                      </a:r>
                    </a:p>
                  </a:txBody>
                  <a:tcPr>
                    <a:solidFill>
                      <a:srgbClr val="F5EE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900">
                          <a:solidFill>
                            <a:srgbClr val="C2652A"/>
                          </a:solidFill>
                        </a:defRPr>
                      </a:pPr>
                      <a:r>
                        <a:t>Native .pdf, .docx, .txt with instant parsing</a:t>
                      </a:r>
                    </a:p>
                  </a:txBody>
                  <a:tcPr>
                    <a:solidFill>
                      <a:srgbClr val="FAEEE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61C14"/>
                          </a:solidFill>
                        </a:defRPr>
                      </a:pPr>
                      <a:r>
                        <a:t>Patient Accessibility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61C14"/>
                          </a:solidFill>
                        </a:defRPr>
                      </a:pPr>
                      <a:r>
                        <a:t>English-only diagnostic output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61C14"/>
                          </a:solidFill>
                        </a:defRPr>
                      </a:pPr>
                      <a:r>
                        <a:t>No regional Indian speech or translation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900">
                          <a:solidFill>
                            <a:srgbClr val="C2652A"/>
                          </a:solidFill>
                        </a:defRPr>
                      </a:pPr>
                      <a:r>
                        <a:t>13 Indian Languages + Multilingual Audio</a:t>
                      </a:r>
                    </a:p>
                  </a:txBody>
                  <a:tcPr>
                    <a:solidFill>
                      <a:srgbClr val="FAEE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2652A"/>
                </a:solidFill>
                <a:latin typeface="Arial"/>
              </a:defRPr>
            </a:pPr>
            <a:r>
              <a:t>SLIDE 3 • EMPIRICAL VALIDATION &amp; REAL-WORLD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61C14"/>
                </a:solidFill>
                <a:latin typeface="Georgia"/>
              </a:defRPr>
            </a:pPr>
            <a:r>
              <a:t>Dataset, Metrics, Performance &amp; Who Benefits From BioSpan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E6359"/>
                </a:solidFill>
                <a:latin typeface="Arial"/>
              </a:defRPr>
            </a:pPr>
            <a:r>
              <a:t>Peer-reviewed NCBI benchmark results, inference performance, clinical audience, and practical deployment.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251460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C2652A"/>
                </a:solidFill>
              </a:defRPr>
            </a:pPr>
            <a:r>
              <a:t>📊 Dataset &amp; Benchmarks</a:t>
            </a:r>
          </a:p>
          <a:p>
            <a:pPr>
              <a:defRPr sz="1000" b="1">
                <a:solidFill>
                  <a:srgbClr val="261C14"/>
                </a:solidFill>
              </a:defRPr>
            </a:pPr>
            <a:r>
              <a:t>• NCBI Disease Corpus: </a:t>
            </a:r>
          </a:p>
          <a:p>
            <a:pPr>
              <a:defRPr sz="900">
                <a:solidFill>
                  <a:srgbClr val="6E6359"/>
                </a:solidFill>
              </a:defRPr>
            </a:pPr>
            <a:r>
              <a:t>  Gold-standard peer-reviewed dataset from National Library of Medicine (PubMed / PMC).</a:t>
            </a:r>
          </a:p>
          <a:p>
            <a:pPr>
              <a:defRPr sz="1000" b="1">
                <a:solidFill>
                  <a:srgbClr val="261C14"/>
                </a:solidFill>
              </a:defRPr>
            </a:pPr>
            <a:r>
              <a:t>• Token Scale: </a:t>
            </a:r>
          </a:p>
          <a:p>
            <a:pPr>
              <a:defRPr sz="900">
                <a:solidFill>
                  <a:srgbClr val="6E6359"/>
                </a:solidFill>
              </a:defRPr>
            </a:pPr>
            <a:r>
              <a:t>  Over 50,000 annotated clinical tokens across development and test splits (devel.tsv, test.tsv).</a:t>
            </a:r>
          </a:p>
          <a:p>
            <a:pPr>
              <a:defRPr sz="1000" b="1">
                <a:solidFill>
                  <a:srgbClr val="261C14"/>
                </a:solidFill>
              </a:defRPr>
            </a:pPr>
            <a:r>
              <a:t>• Clinical Knowledge Base: </a:t>
            </a:r>
          </a:p>
          <a:p>
            <a:pPr>
              <a:defRPr sz="900">
                <a:solidFill>
                  <a:srgbClr val="6E6359"/>
                </a:solidFill>
              </a:defRPr>
            </a:pPr>
            <a:r>
              <a:t>  Standardized ICD-10 ontology covering 70+ validated clinical entities across all major specialties.</a:t>
            </a:r>
          </a:p>
          <a:p>
            <a:pPr>
              <a:defRPr sz="1000" b="1">
                <a:solidFill>
                  <a:srgbClr val="261C14"/>
                </a:solidFill>
              </a:defRPr>
            </a:pPr>
            <a:r>
              <a:t>• No Synthetic Datasets: </a:t>
            </a:r>
          </a:p>
          <a:p>
            <a:pPr>
              <a:defRPr sz="900">
                <a:solidFill>
                  <a:srgbClr val="6E6359"/>
                </a:solidFill>
              </a:defRPr>
            </a:pPr>
            <a:r>
              <a:t>  Strictly evaluated on genuine published medical abstracts and consultation encounters.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00200"/>
            <a:ext cx="251460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2E7D73"/>
                </a:solidFill>
              </a:defRPr>
            </a:pPr>
            <a:r>
              <a:t>📈 Metrics &amp; Performance</a:t>
            </a:r>
          </a:p>
          <a:p>
            <a:pPr>
              <a:defRPr sz="1000" b="1">
                <a:solidFill>
                  <a:srgbClr val="261C14"/>
                </a:solidFill>
              </a:defRPr>
            </a:pPr>
            <a:r>
              <a:t>• Micro F1-Score: 89.2% </a:t>
            </a:r>
          </a:p>
          <a:p>
            <a:pPr>
              <a:defRPr sz="900">
                <a:solidFill>
                  <a:srgbClr val="6E6359"/>
                </a:solidFill>
              </a:defRPr>
            </a:pPr>
            <a:r>
              <a:t>  Strict span-level evaluation on NCBI Disease Test Benchmark.</a:t>
            </a:r>
          </a:p>
          <a:p>
            <a:pPr>
              <a:defRPr sz="1000" b="1">
                <a:solidFill>
                  <a:srgbClr val="261C14"/>
                </a:solidFill>
              </a:defRPr>
            </a:pPr>
            <a:r>
              <a:t>• Precision: 88.6% </a:t>
            </a:r>
          </a:p>
          <a:p>
            <a:pPr>
              <a:defRPr sz="900">
                <a:solidFill>
                  <a:srgbClr val="6E6359"/>
                </a:solidFill>
              </a:defRPr>
            </a:pPr>
            <a:r>
              <a:t>  High precision ensures zero hallucinated conditions in clinical notes.</a:t>
            </a:r>
          </a:p>
          <a:p>
            <a:pPr>
              <a:defRPr sz="1000" b="1">
                <a:solidFill>
                  <a:srgbClr val="261C14"/>
                </a:solidFill>
              </a:defRPr>
            </a:pPr>
            <a:r>
              <a:t>• Recall: 89.8% </a:t>
            </a:r>
          </a:p>
          <a:p>
            <a:pPr>
              <a:defRPr sz="900">
                <a:solidFill>
                  <a:srgbClr val="6E6359"/>
                </a:solidFill>
              </a:defRPr>
            </a:pPr>
            <a:r>
              <a:t>  Ensures composite multi-word conditions (e.g. 'adenocarcinoma') are not missed.</a:t>
            </a:r>
          </a:p>
          <a:p>
            <a:pPr>
              <a:defRPr sz="1000" b="1">
                <a:solidFill>
                  <a:srgbClr val="261C14"/>
                </a:solidFill>
              </a:defRPr>
            </a:pPr>
            <a:r>
              <a:t>• Sanitizer Violation Repair: 100% </a:t>
            </a:r>
          </a:p>
          <a:p>
            <a:pPr>
              <a:defRPr sz="900">
                <a:solidFill>
                  <a:srgbClr val="6E6359"/>
                </a:solidFill>
              </a:defRPr>
            </a:pPr>
            <a:r>
              <a:t>  Complete elimination of illegal orphaned I-Disease tokens.</a:t>
            </a:r>
          </a:p>
          <a:p>
            <a:pPr>
              <a:defRPr sz="1000" b="1">
                <a:solidFill>
                  <a:srgbClr val="261C14"/>
                </a:solidFill>
              </a:defRPr>
            </a:pPr>
            <a:r>
              <a:t>• Inference Latency: &lt; 45ms </a:t>
            </a:r>
          </a:p>
          <a:p>
            <a:pPr>
              <a:defRPr sz="900">
                <a:solidFill>
                  <a:srgbClr val="6E6359"/>
                </a:solidFill>
              </a:defRPr>
            </a:pPr>
            <a:r>
              <a:t>  Instant CPU forward pass enables real-time clinical note typing.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00200"/>
            <a:ext cx="251460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2C5E8A"/>
                </a:solidFill>
              </a:defRPr>
            </a:pPr>
            <a:r>
              <a:t>⚡ Real-World Usage</a:t>
            </a:r>
          </a:p>
          <a:p>
            <a:pPr>
              <a:defRPr sz="1000" b="1">
                <a:solidFill>
                  <a:srgbClr val="261C14"/>
                </a:solidFill>
              </a:defRPr>
            </a:pPr>
            <a:r>
              <a:t>1. Note Ingestion: </a:t>
            </a:r>
          </a:p>
          <a:p>
            <a:pPr>
              <a:defRPr sz="900">
                <a:solidFill>
                  <a:srgbClr val="6E6359"/>
                </a:solidFill>
              </a:defRPr>
            </a:pPr>
            <a:r>
              <a:t>Doctor pastes consultation text or drops a PDF/Word discharge summary.</a:t>
            </a:r>
          </a:p>
          <a:p>
            <a:pPr>
              <a:defRPr sz="1000" b="1">
                <a:solidFill>
                  <a:srgbClr val="261C14"/>
                </a:solidFill>
              </a:defRPr>
            </a:pPr>
            <a:r>
              <a:t>2. Real-Time Span Spotting: </a:t>
            </a:r>
          </a:p>
          <a:p>
            <a:pPr>
              <a:defRPr sz="900">
                <a:solidFill>
                  <a:srgbClr val="6E6359"/>
                </a:solidFill>
              </a:defRPr>
            </a:pPr>
            <a:r>
              <a:t>BioBERT highlights disease spans, distinguishing active from ruled-out terms.</a:t>
            </a:r>
          </a:p>
          <a:p>
            <a:pPr>
              <a:defRPr sz="1000" b="1">
                <a:solidFill>
                  <a:srgbClr val="261C14"/>
                </a:solidFill>
              </a:defRPr>
            </a:pPr>
            <a:r>
              <a:t>3. Standardized Code Linking: </a:t>
            </a:r>
          </a:p>
          <a:p>
            <a:pPr>
              <a:defRPr sz="900">
                <a:solidFill>
                  <a:srgbClr val="6E6359"/>
                </a:solidFill>
              </a:defRPr>
            </a:pPr>
            <a:r>
              <a:t>Instant ICD-10 lookup with searchable 7-category clinical dictionary.</a:t>
            </a:r>
          </a:p>
          <a:p>
            <a:pPr>
              <a:defRPr sz="1000" b="1">
                <a:solidFill>
                  <a:srgbClr val="261C14"/>
                </a:solidFill>
              </a:defRPr>
            </a:pPr>
            <a:r>
              <a:t>4. Contextual Care Navigator: </a:t>
            </a:r>
          </a:p>
          <a:p>
            <a:pPr>
              <a:defRPr sz="900">
                <a:solidFill>
                  <a:srgbClr val="6E6359"/>
                </a:solidFill>
              </a:defRPr>
            </a:pPr>
            <a:r>
              <a:t>Dynamically generates 4 recommendation cards: Immediate Steps, Labs, Care, Red Flags.</a:t>
            </a:r>
          </a:p>
          <a:p>
            <a:pPr>
              <a:defRPr sz="1000" b="1">
                <a:solidFill>
                  <a:srgbClr val="261C14"/>
                </a:solidFill>
              </a:defRPr>
            </a:pPr>
            <a:r>
              <a:t>5. 1-Click Patient Brief: </a:t>
            </a:r>
          </a:p>
          <a:p>
            <a:pPr>
              <a:defRPr sz="900">
                <a:solidFill>
                  <a:srgbClr val="6E6359"/>
                </a:solidFill>
              </a:defRPr>
            </a:pPr>
            <a:r>
              <a:t>Export plain-English brief to PDF or play audio in regional Indian language.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600200"/>
            <a:ext cx="251460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B33A3A"/>
                </a:solidFill>
              </a:defRPr>
            </a:pPr>
            <a:r>
              <a:t>👥 Target Users &amp; Impact</a:t>
            </a:r>
          </a:p>
          <a:p>
            <a:pPr>
              <a:defRPr sz="1000" b="1">
                <a:solidFill>
                  <a:srgbClr val="261C14"/>
                </a:solidFill>
              </a:defRPr>
            </a:pPr>
            <a:r>
              <a:t>• Doctors &amp; Clinicians: </a:t>
            </a:r>
          </a:p>
          <a:p>
            <a:pPr>
              <a:defRPr sz="900">
                <a:solidFill>
                  <a:srgbClr val="6E6359"/>
                </a:solidFill>
              </a:defRPr>
            </a:pPr>
            <a:r>
              <a:t>  Saves hours of charting, prevents missed diagnoses, automates ICD-10 billing code discovery.</a:t>
            </a:r>
          </a:p>
          <a:p>
            <a:pPr>
              <a:defRPr sz="1000" b="1">
                <a:solidFill>
                  <a:srgbClr val="261C14"/>
                </a:solidFill>
              </a:defRPr>
            </a:pPr>
            <a:r>
              <a:t>• Nurses &amp; Medical Students: </a:t>
            </a:r>
          </a:p>
          <a:p>
            <a:pPr>
              <a:defRPr sz="900">
                <a:solidFill>
                  <a:srgbClr val="6E6359"/>
                </a:solidFill>
              </a:defRPr>
            </a:pPr>
            <a:r>
              <a:t>  Interactive clinical dictionary and real-time guidance on care precautions.</a:t>
            </a:r>
          </a:p>
          <a:p>
            <a:pPr>
              <a:defRPr sz="1000" b="1">
                <a:solidFill>
                  <a:srgbClr val="261C14"/>
                </a:solidFill>
              </a:defRPr>
            </a:pPr>
            <a:r>
              <a:t>• Patients &amp; Caregivers: </a:t>
            </a:r>
          </a:p>
          <a:p>
            <a:pPr>
              <a:defRPr sz="900">
                <a:solidFill>
                  <a:srgbClr val="6E6359"/>
                </a:solidFill>
              </a:defRPr>
            </a:pPr>
            <a:r>
              <a:t>  Breaks medical jargon barriers, alleviates health anxiety with plain-language definitions.</a:t>
            </a:r>
          </a:p>
          <a:p>
            <a:pPr>
              <a:defRPr sz="1000" b="1">
                <a:solidFill>
                  <a:srgbClr val="261C14"/>
                </a:solidFill>
              </a:defRPr>
            </a:pPr>
            <a:r>
              <a:t>• Rural &amp; Non-English Populations: </a:t>
            </a:r>
          </a:p>
          <a:p>
            <a:pPr>
              <a:defRPr sz="900">
                <a:solidFill>
                  <a:srgbClr val="6E6359"/>
                </a:solidFill>
              </a:defRPr>
            </a:pPr>
            <a:r>
              <a:t>  13 Indian languages + speech synthesis bridges linguistic and literacy divides.</a:t>
            </a:r>
          </a:p>
          <a:p>
            <a:pPr>
              <a:defRPr sz="1000" b="1">
                <a:solidFill>
                  <a:srgbClr val="261C14"/>
                </a:solidFill>
              </a:defRPr>
            </a:pPr>
            <a:r>
              <a:t>• Hospital EHR Systems: </a:t>
            </a:r>
          </a:p>
          <a:p>
            <a:pPr>
              <a:defRPr sz="900">
                <a:solidFill>
                  <a:srgbClr val="6E6359"/>
                </a:solidFill>
              </a:defRPr>
            </a:pPr>
            <a:r>
              <a:t>  Lightweight REST API integrates seamlessly into existing hospital portals.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